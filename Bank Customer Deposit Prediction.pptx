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70" r:id="rId15"/>
    <p:sldId id="271" r:id="rId16"/>
    <p:sldId id="272" r:id="rId17"/>
    <p:sldId id="268" r:id="rId18"/>
  </p:sldIdLst>
  <p:sldSz cx="18288000" cy="10287000"/>
  <p:notesSz cx="6858000" cy="9144000"/>
  <p:embeddedFontLst>
    <p:embeddedFont>
      <p:font typeface="Ballpoint" panose="020B0604020202020204" charset="0"/>
      <p:regular r:id="rId19"/>
    </p:embeddedFont>
    <p:embeddedFont>
      <p:font typeface="Canva Sans" panose="020B0604020202020204" charset="0"/>
      <p:regular r:id="rId20"/>
    </p:embeddedFont>
    <p:embeddedFont>
      <p:font typeface="Canva Sa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37AE26-8756-42B5-B6CB-B40244896CF2}" v="4" dt="2026-03-07T07:23:39.608"/>
    <p1510:client id="{32E975B7-A574-43E0-BDBB-F541B21921C3}" v="3" dt="2026-03-06T15:44:38.941"/>
    <p1510:client id="{D783F27C-EF3F-44AF-B6B5-927AACBAA286}" v="162" dt="2026-03-08T05:04:01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5" autoAdjust="0"/>
  </p:normalViewPr>
  <p:slideViewPr>
    <p:cSldViewPr>
      <p:cViewPr varScale="1">
        <p:scale>
          <a:sx n="46" d="100"/>
          <a:sy n="46" d="100"/>
        </p:scale>
        <p:origin x="79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8915400" y="6077229"/>
            <a:ext cx="7031126" cy="3116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81"/>
              </a:lnSpc>
            </a:pPr>
            <a:r>
              <a:rPr lang="en-US" sz="5772" dirty="0">
                <a:solidFill>
                  <a:schemeClr val="bg1"/>
                </a:solidFill>
                <a:latin typeface="Ballpoint"/>
                <a:ea typeface="Ballpoint"/>
                <a:cs typeface="Ballpoint"/>
                <a:sym typeface="Ballpoint"/>
              </a:rPr>
              <a:t>Project by AKSHAY VP</a:t>
            </a:r>
          </a:p>
          <a:p>
            <a:pPr algn="ctr">
              <a:lnSpc>
                <a:spcPts val="8081"/>
              </a:lnSpc>
            </a:pPr>
            <a:r>
              <a:rPr lang="en-US" sz="5772" dirty="0">
                <a:solidFill>
                  <a:schemeClr val="bg1"/>
                </a:solidFill>
                <a:latin typeface="Ballpoint"/>
                <a:ea typeface="Ballpoint"/>
                <a:cs typeface="Ballpoint"/>
                <a:sym typeface="Ballpoint"/>
              </a:rPr>
              <a:t>Data Scientist</a:t>
            </a:r>
          </a:p>
          <a:p>
            <a:pPr algn="ctr">
              <a:lnSpc>
                <a:spcPts val="8081"/>
              </a:lnSpc>
              <a:spcBef>
                <a:spcPct val="0"/>
              </a:spcBef>
            </a:pPr>
            <a:endParaRPr lang="en-US" sz="5772" dirty="0">
              <a:solidFill>
                <a:schemeClr val="bg1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4461" y="847725"/>
            <a:ext cx="15424839" cy="5232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89"/>
              </a:lnSpc>
            </a:pPr>
            <a:r>
              <a:rPr lang="en-US" sz="9707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 Customer Deposit</a:t>
            </a:r>
          </a:p>
          <a:p>
            <a:pPr algn="ctr">
              <a:lnSpc>
                <a:spcPts val="13589"/>
              </a:lnSpc>
            </a:pPr>
            <a:r>
              <a:rPr lang="en-US" sz="9707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Prediction</a:t>
            </a:r>
          </a:p>
          <a:p>
            <a:pPr algn="ctr">
              <a:lnSpc>
                <a:spcPts val="13589"/>
              </a:lnSpc>
            </a:pPr>
            <a:endParaRPr lang="en-US" sz="9707" b="1" dirty="0">
              <a:solidFill>
                <a:srgbClr val="183937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0" y="4371975"/>
            <a:ext cx="182880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Analyzing Customer Behavior for Better Deposit Management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95083" y="8435678"/>
            <a:ext cx="350035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19-2-2026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777114" y="3322042"/>
            <a:ext cx="17013311" cy="6361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27693" lvl="1" indent="-513846" algn="l">
              <a:lnSpc>
                <a:spcPts val="7282"/>
              </a:lnSpc>
              <a:buFont typeface="Arial"/>
              <a:buChar char="•"/>
            </a:pPr>
            <a:r>
              <a:rPr lang="en-US" sz="4760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Objective: Analyze customer data to understand deposit behavior.</a:t>
            </a:r>
          </a:p>
          <a:p>
            <a:pPr marL="1027693" lvl="1" indent="-513846" algn="l">
              <a:lnSpc>
                <a:spcPts val="7282"/>
              </a:lnSpc>
              <a:buFont typeface="Arial"/>
              <a:buChar char="•"/>
            </a:pPr>
            <a:r>
              <a:rPr lang="en-US" sz="4760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Importance: Helps banks target customers effectively and increase deposit subscriptions.</a:t>
            </a:r>
          </a:p>
          <a:p>
            <a:pPr marL="1027693" lvl="1" indent="-513846" algn="l">
              <a:lnSpc>
                <a:spcPts val="7282"/>
              </a:lnSpc>
              <a:buFont typeface="Arial"/>
              <a:buChar char="•"/>
            </a:pPr>
            <a:r>
              <a:rPr lang="en-US" sz="4760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Dataset: Bank marketing dataset with 50,000 records and 17 features.</a:t>
            </a:r>
          </a:p>
          <a:p>
            <a:pPr algn="l">
              <a:lnSpc>
                <a:spcPts val="6058"/>
              </a:lnSpc>
            </a:pPr>
            <a:endParaRPr lang="en-US" sz="4760" dirty="0">
              <a:solidFill>
                <a:schemeClr val="bg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-3970362" y="1147289"/>
            <a:ext cx="16361802" cy="152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29"/>
              </a:lnSpc>
            </a:pPr>
            <a:r>
              <a:rPr lang="en-US" sz="9521" spc="418" dirty="0">
                <a:solidFill>
                  <a:schemeClr val="bg1"/>
                </a:solidFill>
                <a:latin typeface="Ballpoint"/>
                <a:ea typeface="Ballpoint"/>
                <a:cs typeface="Ballpoint"/>
                <a:sym typeface="Ballpoint"/>
              </a:rPr>
              <a:t>INTRODUCTION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C9E8F6-8B27-8AE2-BA71-68055F482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782"/>
            <a:ext cx="18288000" cy="10307782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 rot="968546">
            <a:off x="3929388" y="8335599"/>
            <a:ext cx="905403" cy="418132"/>
          </a:xfrm>
          <a:custGeom>
            <a:avLst/>
            <a:gdLst/>
            <a:ahLst/>
            <a:cxnLst/>
            <a:rect l="l" t="t" r="r" b="b"/>
            <a:pathLst>
              <a:path w="905403" h="418132">
                <a:moveTo>
                  <a:pt x="0" y="0"/>
                </a:moveTo>
                <a:lnTo>
                  <a:pt x="905403" y="0"/>
                </a:lnTo>
                <a:lnTo>
                  <a:pt x="905403" y="418132"/>
                </a:lnTo>
                <a:lnTo>
                  <a:pt x="0" y="4181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68546">
            <a:off x="8856983" y="8335599"/>
            <a:ext cx="905403" cy="418132"/>
          </a:xfrm>
          <a:custGeom>
            <a:avLst/>
            <a:gdLst/>
            <a:ahLst/>
            <a:cxnLst/>
            <a:rect l="l" t="t" r="r" b="b"/>
            <a:pathLst>
              <a:path w="905403" h="418132">
                <a:moveTo>
                  <a:pt x="0" y="0"/>
                </a:moveTo>
                <a:lnTo>
                  <a:pt x="905404" y="0"/>
                </a:lnTo>
                <a:lnTo>
                  <a:pt x="905404" y="418132"/>
                </a:lnTo>
                <a:lnTo>
                  <a:pt x="0" y="4181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968546">
            <a:off x="13415538" y="8335599"/>
            <a:ext cx="905403" cy="418132"/>
          </a:xfrm>
          <a:custGeom>
            <a:avLst/>
            <a:gdLst/>
            <a:ahLst/>
            <a:cxnLst/>
            <a:rect l="l" t="t" r="r" b="b"/>
            <a:pathLst>
              <a:path w="905403" h="418132">
                <a:moveTo>
                  <a:pt x="0" y="0"/>
                </a:moveTo>
                <a:lnTo>
                  <a:pt x="905404" y="0"/>
                </a:lnTo>
                <a:lnTo>
                  <a:pt x="905404" y="418132"/>
                </a:lnTo>
                <a:lnTo>
                  <a:pt x="0" y="4181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30008" y="1372874"/>
            <a:ext cx="14391227" cy="1474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23"/>
              </a:lnSpc>
            </a:pPr>
            <a:r>
              <a:rPr lang="en-US" sz="10381" spc="456" dirty="0">
                <a:solidFill>
                  <a:schemeClr val="bg1"/>
                </a:solidFill>
                <a:latin typeface="Ballpoint"/>
                <a:ea typeface="Ballpoint"/>
                <a:cs typeface="Ballpoint"/>
                <a:sym typeface="Ballpoint"/>
              </a:rPr>
              <a:t>PROBLEM UNDERSTANDING</a:t>
            </a:r>
          </a:p>
        </p:txBody>
      </p:sp>
      <p:sp>
        <p:nvSpPr>
          <p:cNvPr id="7" name="Freeform 7"/>
          <p:cNvSpPr/>
          <p:nvPr/>
        </p:nvSpPr>
        <p:spPr>
          <a:xfrm>
            <a:off x="13639330" y="2146209"/>
            <a:ext cx="721889" cy="916949"/>
          </a:xfrm>
          <a:custGeom>
            <a:avLst/>
            <a:gdLst/>
            <a:ahLst/>
            <a:cxnLst/>
            <a:rect l="l" t="t" r="r" b="b"/>
            <a:pathLst>
              <a:path w="721889" h="916949">
                <a:moveTo>
                  <a:pt x="0" y="0"/>
                </a:moveTo>
                <a:lnTo>
                  <a:pt x="721889" y="0"/>
                </a:lnTo>
                <a:lnTo>
                  <a:pt x="721889" y="916949"/>
                </a:lnTo>
                <a:lnTo>
                  <a:pt x="0" y="916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917441" y="1687735"/>
            <a:ext cx="721889" cy="916949"/>
          </a:xfrm>
          <a:custGeom>
            <a:avLst/>
            <a:gdLst/>
            <a:ahLst/>
            <a:cxnLst/>
            <a:rect l="l" t="t" r="r" b="b"/>
            <a:pathLst>
              <a:path w="721889" h="916949">
                <a:moveTo>
                  <a:pt x="0" y="0"/>
                </a:moveTo>
                <a:lnTo>
                  <a:pt x="721889" y="0"/>
                </a:lnTo>
                <a:lnTo>
                  <a:pt x="721889" y="916949"/>
                </a:lnTo>
                <a:lnTo>
                  <a:pt x="0" y="916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37643" y="3359136"/>
            <a:ext cx="15758126" cy="366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24890" lvl="1" indent="-512445" algn="l">
              <a:lnSpc>
                <a:spcPts val="7266"/>
              </a:lnSpc>
              <a:buFont typeface="Arial"/>
              <a:buChar char="•"/>
            </a:pPr>
            <a:r>
              <a:rPr lang="en-US" sz="474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Goal: Predict if a customer will subscribe to a deposit.</a:t>
            </a:r>
            <a:endParaRPr lang="en-US"/>
          </a:p>
          <a:p>
            <a:pPr marL="1024890" lvl="1" indent="-512445" algn="l">
              <a:lnSpc>
                <a:spcPts val="7266"/>
              </a:lnSpc>
              <a:buFont typeface="Arial"/>
              <a:buChar char="•"/>
            </a:pPr>
            <a:r>
              <a:rPr lang="en-US" sz="474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Business Objective: Target customers effectively and increase deposit subscriptions.</a:t>
            </a:r>
            <a:endParaRPr lang="en-US" sz="4749" dirty="0">
              <a:solidFill>
                <a:schemeClr val="bg1"/>
              </a:solidFill>
              <a:latin typeface="Canva Sans"/>
              <a:ea typeface="Canva Sans"/>
              <a:cs typeface="Canv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028700" y="2033326"/>
            <a:ext cx="8879535" cy="148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4722" lvl="1" indent="-507361" algn="l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Number of rows: 50,000+</a:t>
            </a:r>
          </a:p>
          <a:p>
            <a:pPr algn="l">
              <a:lnSpc>
                <a:spcPts val="5039"/>
              </a:lnSpc>
            </a:pPr>
            <a:endParaRPr lang="en-US" sz="4699">
              <a:solidFill>
                <a:schemeClr val="bg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2951730"/>
            <a:ext cx="8115300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4722" lvl="1" indent="-507361" algn="l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Number of columns: 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865367"/>
            <a:ext cx="6544004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12" lvl="1" indent="-518156" algn="l">
              <a:lnSpc>
                <a:spcPts val="6719"/>
              </a:lnSpc>
              <a:buFont typeface="Arial"/>
              <a:buChar char="•"/>
            </a:pPr>
            <a:r>
              <a:rPr lang="en-US" sz="4799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Features include: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00412" y="4916960"/>
            <a:ext cx="13263416" cy="825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93133" lvl="1" indent="-496566" algn="l">
              <a:lnSpc>
                <a:spcPts val="7037"/>
              </a:lnSpc>
              <a:buFont typeface="Arial"/>
              <a:buChar char="•"/>
            </a:pPr>
            <a:r>
              <a:rPr lang="en-US" sz="45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Demographics: age, job, marital, education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38500" y="5758159"/>
            <a:ext cx="11811000" cy="825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82367" lvl="1" indent="-685800">
              <a:lnSpc>
                <a:spcPts val="7037"/>
              </a:lnSpc>
              <a:buFont typeface="Arial" panose="020B0604020202020204" pitchFamily="34" charset="0"/>
              <a:buChar char="•"/>
            </a:pPr>
            <a:r>
              <a:rPr lang="en-US" sz="45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Financial: balance, housing loan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52641" y="6895903"/>
            <a:ext cx="13311187" cy="1723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93133" lvl="1" indent="-496566" algn="l">
              <a:lnSpc>
                <a:spcPts val="7037"/>
              </a:lnSpc>
              <a:buFont typeface="Arial"/>
              <a:buChar char="•"/>
            </a:pPr>
            <a:r>
              <a:rPr lang="en-US" sz="4599" spc="18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Campaign info: contact, day, month, campaign, P days, previous, P outcome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33600" y="8931328"/>
            <a:ext cx="7239000" cy="825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93133" lvl="1" indent="-496566" algn="ctr">
              <a:lnSpc>
                <a:spcPts val="7037"/>
              </a:lnSpc>
              <a:buFont typeface="Arial"/>
              <a:buChar char="•"/>
            </a:pPr>
            <a:r>
              <a:rPr lang="en-US" sz="45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Target: deposit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2712434" y="112993"/>
            <a:ext cx="16361802" cy="170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29"/>
              </a:lnSpc>
            </a:pPr>
            <a:r>
              <a:rPr lang="en-US" sz="9521" spc="418">
                <a:solidFill>
                  <a:schemeClr val="bg1"/>
                </a:solidFill>
                <a:latin typeface="Ballpoint"/>
                <a:ea typeface="Ballpoint"/>
                <a:cs typeface="Ballpoint"/>
                <a:sym typeface="Ballpoint"/>
              </a:rPr>
              <a:t>DATASET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291370" y="645628"/>
            <a:ext cx="15705261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216"/>
              </a:lnSpc>
            </a:pPr>
            <a:r>
              <a:rPr lang="en-US" sz="9823" spc="432" dirty="0">
                <a:solidFill>
                  <a:schemeClr val="bg1"/>
                </a:solidFill>
                <a:latin typeface="Ballpoint"/>
                <a:ea typeface="Ballpoint"/>
                <a:cs typeface="Ballpoint"/>
                <a:sym typeface="Ballpoint"/>
              </a:rPr>
              <a:t>EXPLORATORY DATA ANALYSIS (EDA)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4350" y="2352892"/>
            <a:ext cx="17259300" cy="7253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4722" lvl="1" indent="-507361" algn="l">
              <a:lnSpc>
                <a:spcPts val="7190"/>
              </a:lnSpc>
              <a:buFont typeface="Arial"/>
              <a:buChar char="•"/>
            </a:pPr>
            <a:r>
              <a:rPr lang="en-US" sz="46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Age distribution of customers</a:t>
            </a:r>
          </a:p>
          <a:p>
            <a:pPr marL="1014722" lvl="1" indent="-507361" algn="l">
              <a:lnSpc>
                <a:spcPts val="7190"/>
              </a:lnSpc>
              <a:buFont typeface="Arial"/>
              <a:buChar char="•"/>
            </a:pPr>
            <a:r>
              <a:rPr lang="en-US" sz="46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Job </a:t>
            </a:r>
            <a:r>
              <a:rPr lang="en-US" sz="4699" dirty="0" err="1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vs</a:t>
            </a:r>
            <a:r>
              <a:rPr lang="en-US" sz="46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 Deposit (which jobs subscribe more)</a:t>
            </a:r>
          </a:p>
          <a:p>
            <a:pPr marL="1014722" lvl="1" indent="-507361" algn="l">
              <a:lnSpc>
                <a:spcPts val="7190"/>
              </a:lnSpc>
              <a:spcBef>
                <a:spcPct val="0"/>
              </a:spcBef>
              <a:buFont typeface="Arial"/>
              <a:buChar char="•"/>
            </a:pPr>
            <a:r>
              <a:rPr lang="en-US" sz="46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Categorical Variable Analysis</a:t>
            </a:r>
          </a:p>
          <a:p>
            <a:pPr marL="1014722" lvl="1" indent="-507361" algn="l">
              <a:lnSpc>
                <a:spcPts val="7190"/>
              </a:lnSpc>
              <a:buFont typeface="Arial"/>
              <a:buChar char="•"/>
            </a:pPr>
            <a:r>
              <a:rPr lang="en-US" sz="46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Balance </a:t>
            </a:r>
            <a:r>
              <a:rPr lang="en-US" sz="4699" dirty="0" err="1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vs</a:t>
            </a:r>
            <a:r>
              <a:rPr lang="en-US" sz="46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 Deposit</a:t>
            </a:r>
          </a:p>
          <a:p>
            <a:pPr marL="1014722" lvl="1" indent="-507361" algn="l">
              <a:lnSpc>
                <a:spcPts val="7190"/>
              </a:lnSpc>
              <a:buFont typeface="Arial"/>
              <a:buChar char="•"/>
            </a:pPr>
            <a:r>
              <a:rPr lang="en-US" sz="46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Outlier Analysis: Identified extreme values in the balance feature using boxplots to understand their impact.</a:t>
            </a:r>
          </a:p>
          <a:p>
            <a:pPr algn="l">
              <a:lnSpc>
                <a:spcPts val="6579"/>
              </a:lnSpc>
              <a:spcBef>
                <a:spcPct val="0"/>
              </a:spcBef>
            </a:pPr>
            <a:endParaRPr lang="en-US" sz="4699" dirty="0">
              <a:solidFill>
                <a:schemeClr val="bg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-173320" y="324427"/>
            <a:ext cx="16361802" cy="170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29"/>
              </a:lnSpc>
            </a:pPr>
            <a:r>
              <a:rPr lang="en-US" sz="9521" spc="418">
                <a:solidFill>
                  <a:schemeClr val="bg1"/>
                </a:solidFill>
                <a:latin typeface="Ballpoint"/>
                <a:ea typeface="Ballpoint"/>
                <a:cs typeface="Ballpoint"/>
                <a:sym typeface="Ballpoint"/>
              </a:rPr>
              <a:t>DATA PREPROCESSING</a:t>
            </a:r>
          </a:p>
        </p:txBody>
      </p:sp>
      <p:sp>
        <p:nvSpPr>
          <p:cNvPr id="3" name="Freeform 3"/>
          <p:cNvSpPr/>
          <p:nvPr/>
        </p:nvSpPr>
        <p:spPr>
          <a:xfrm rot="2446274">
            <a:off x="12740604" y="1184594"/>
            <a:ext cx="1390738" cy="835690"/>
          </a:xfrm>
          <a:custGeom>
            <a:avLst/>
            <a:gdLst/>
            <a:ahLst/>
            <a:cxnLst/>
            <a:rect l="l" t="t" r="r" b="b"/>
            <a:pathLst>
              <a:path w="1390738" h="835690">
                <a:moveTo>
                  <a:pt x="0" y="0"/>
                </a:moveTo>
                <a:lnTo>
                  <a:pt x="1390738" y="0"/>
                </a:lnTo>
                <a:lnTo>
                  <a:pt x="1390738" y="835690"/>
                </a:lnTo>
                <a:lnTo>
                  <a:pt x="0" y="835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954909" flipH="1">
            <a:off x="1747032" y="756052"/>
            <a:ext cx="1420998" cy="1304734"/>
          </a:xfrm>
          <a:custGeom>
            <a:avLst/>
            <a:gdLst/>
            <a:ahLst/>
            <a:cxnLst/>
            <a:rect l="l" t="t" r="r" b="b"/>
            <a:pathLst>
              <a:path w="1420998" h="1304734">
                <a:moveTo>
                  <a:pt x="1420998" y="0"/>
                </a:moveTo>
                <a:lnTo>
                  <a:pt x="0" y="0"/>
                </a:lnTo>
                <a:lnTo>
                  <a:pt x="0" y="1304734"/>
                </a:lnTo>
                <a:lnTo>
                  <a:pt x="1420998" y="1304734"/>
                </a:lnTo>
                <a:lnTo>
                  <a:pt x="142099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96432" y="2287262"/>
            <a:ext cx="10017343" cy="79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4722" lvl="1" indent="-507361" algn="l">
              <a:lnSpc>
                <a:spcPts val="6579"/>
              </a:lnSpc>
              <a:buFont typeface="Arial"/>
              <a:buChar char="•"/>
            </a:pPr>
            <a:r>
              <a:rPr lang="en-US" sz="46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Missing values: Handled if any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6432" y="3234683"/>
            <a:ext cx="4868023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4722" lvl="1" indent="-507361" algn="l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Encoding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6432" y="4182103"/>
            <a:ext cx="14869370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4722" lvl="1" indent="-507361" algn="l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Label Encoding applied to categorical columns (job, marital, education, contact, poutcome)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6432" y="5901049"/>
            <a:ext cx="15762868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4722" lvl="1" indent="-507361" algn="l">
              <a:lnSpc>
                <a:spcPts val="7190"/>
              </a:lnSpc>
              <a:buFont typeface="Arial"/>
              <a:buChar char="•"/>
            </a:pPr>
            <a:r>
              <a:rPr lang="en-US" sz="4699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Feature Removal: Dropped the duration column to prevent data leakage, as call duration is known only after the marketing call.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6432" y="8713974"/>
            <a:ext cx="13902942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4722" lvl="1" indent="-507361" algn="l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Train-Test Split: 80% training, 20%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AD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596585" y="155822"/>
            <a:ext cx="16265251" cy="1956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85"/>
              </a:lnSpc>
            </a:pPr>
            <a:r>
              <a:rPr lang="en-US" sz="11969" spc="526">
                <a:solidFill>
                  <a:srgbClr val="FAFAFA"/>
                </a:solidFill>
                <a:latin typeface="Ballpoint"/>
                <a:ea typeface="Ballpoint"/>
                <a:cs typeface="Ballpoint"/>
                <a:sym typeface="Ballpoint"/>
              </a:rPr>
              <a:t>DATA TABLE</a:t>
            </a:r>
          </a:p>
        </p:txBody>
      </p:sp>
      <p:sp>
        <p:nvSpPr>
          <p:cNvPr id="3" name="Freeform 3"/>
          <p:cNvSpPr/>
          <p:nvPr/>
        </p:nvSpPr>
        <p:spPr>
          <a:xfrm>
            <a:off x="15795504" y="952443"/>
            <a:ext cx="721889" cy="916949"/>
          </a:xfrm>
          <a:custGeom>
            <a:avLst/>
            <a:gdLst/>
            <a:ahLst/>
            <a:cxnLst/>
            <a:rect l="l" t="t" r="r" b="b"/>
            <a:pathLst>
              <a:path w="721889" h="916949">
                <a:moveTo>
                  <a:pt x="0" y="0"/>
                </a:moveTo>
                <a:lnTo>
                  <a:pt x="721888" y="0"/>
                </a:lnTo>
                <a:lnTo>
                  <a:pt x="721888" y="916949"/>
                </a:lnTo>
                <a:lnTo>
                  <a:pt x="0" y="916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160491" flipH="1">
            <a:off x="1682197" y="584222"/>
            <a:ext cx="1342472" cy="1232634"/>
          </a:xfrm>
          <a:custGeom>
            <a:avLst/>
            <a:gdLst/>
            <a:ahLst/>
            <a:cxnLst/>
            <a:rect l="l" t="t" r="r" b="b"/>
            <a:pathLst>
              <a:path w="1342472" h="1232634">
                <a:moveTo>
                  <a:pt x="1342472" y="0"/>
                </a:moveTo>
                <a:lnTo>
                  <a:pt x="0" y="0"/>
                </a:lnTo>
                <a:lnTo>
                  <a:pt x="0" y="1232633"/>
                </a:lnTo>
                <a:lnTo>
                  <a:pt x="1342472" y="1232633"/>
                </a:lnTo>
                <a:lnTo>
                  <a:pt x="134247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073615" y="493969"/>
            <a:ext cx="721889" cy="916949"/>
          </a:xfrm>
          <a:custGeom>
            <a:avLst/>
            <a:gdLst/>
            <a:ahLst/>
            <a:cxnLst/>
            <a:rect l="l" t="t" r="r" b="b"/>
            <a:pathLst>
              <a:path w="721889" h="916949">
                <a:moveTo>
                  <a:pt x="0" y="0"/>
                </a:moveTo>
                <a:lnTo>
                  <a:pt x="721889" y="0"/>
                </a:lnTo>
                <a:lnTo>
                  <a:pt x="721889" y="916949"/>
                </a:lnTo>
                <a:lnTo>
                  <a:pt x="0" y="916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6585" y="1981808"/>
            <a:ext cx="17009449" cy="7276492"/>
          </a:xfrm>
          <a:custGeom>
            <a:avLst/>
            <a:gdLst/>
            <a:ahLst/>
            <a:cxnLst/>
            <a:rect l="l" t="t" r="r" b="b"/>
            <a:pathLst>
              <a:path w="17009449" h="7276492">
                <a:moveTo>
                  <a:pt x="0" y="0"/>
                </a:moveTo>
                <a:lnTo>
                  <a:pt x="17009449" y="0"/>
                </a:lnTo>
                <a:lnTo>
                  <a:pt x="17009449" y="7276492"/>
                </a:lnTo>
                <a:lnTo>
                  <a:pt x="0" y="7276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930" r="-12723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6278910" y="101371"/>
            <a:ext cx="5428478" cy="1397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49"/>
              </a:lnSpc>
              <a:spcBef>
                <a:spcPct val="0"/>
              </a:spcBef>
            </a:pPr>
            <a:r>
              <a:rPr lang="en-US" sz="7821">
                <a:solidFill>
                  <a:schemeClr val="bg1"/>
                </a:solidFill>
                <a:latin typeface="Ballpoint"/>
                <a:ea typeface="Ballpoint"/>
                <a:cs typeface="Ballpoint"/>
                <a:sym typeface="Ballpoint"/>
              </a:rPr>
              <a:t>Techniques Used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9569" y="1513654"/>
            <a:ext cx="7108031" cy="887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Descriptive Statistics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51216" y="2523813"/>
            <a:ext cx="16249799" cy="978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44259" lvl="1" indent="-572130" algn="ctr">
              <a:lnSpc>
                <a:spcPts val="8108"/>
              </a:lnSpc>
              <a:buFont typeface="Arial"/>
              <a:buChar char="•"/>
            </a:pPr>
            <a:r>
              <a:rPr lang="en-US" sz="52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Mean, median, count, and distribution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9569" y="3673292"/>
            <a:ext cx="6193631" cy="887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Visualization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51216" y="4748348"/>
            <a:ext cx="15808084" cy="171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62536" lvl="1" indent="-581268" algn="l">
              <a:lnSpc>
                <a:spcPts val="7538"/>
              </a:lnSpc>
              <a:buFont typeface="Arial"/>
              <a:buChar char="•"/>
            </a:pPr>
            <a:r>
              <a:rPr lang="en-US" sz="5384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Count Plots, Box Plots, Heatmaps</a:t>
            </a:r>
          </a:p>
          <a:p>
            <a:pPr algn="l">
              <a:lnSpc>
                <a:spcPts val="5858"/>
              </a:lnSpc>
            </a:pPr>
            <a:endParaRPr lang="en-US" sz="5384">
              <a:solidFill>
                <a:schemeClr val="bg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0" y="5834198"/>
            <a:ext cx="11894160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Modeling – Classification Models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51216" y="6861630"/>
            <a:ext cx="15808084" cy="3744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29179" lvl="1" indent="-514590" algn="l">
              <a:lnSpc>
                <a:spcPts val="7293"/>
              </a:lnSpc>
              <a:buFont typeface="Arial"/>
              <a:buChar char="•"/>
            </a:pPr>
            <a:r>
              <a:rPr lang="en-US" sz="4766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Logistic Regression, Decision Tree, Random Forest, K-Nearest Neighbors , Support Vector Machine , Naïve Bayes, Gradient Boosting, XGBoost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267976" y="825395"/>
            <a:ext cx="15752047" cy="8636210"/>
            <a:chOff x="0" y="0"/>
            <a:chExt cx="4148687" cy="2274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8687" cy="2274557"/>
            </a:xfrm>
            <a:custGeom>
              <a:avLst/>
              <a:gdLst/>
              <a:ahLst/>
              <a:cxnLst/>
              <a:rect l="l" t="t" r="r" b="b"/>
              <a:pathLst>
                <a:path w="4148687" h="2274557">
                  <a:moveTo>
                    <a:pt x="39810" y="0"/>
                  </a:moveTo>
                  <a:lnTo>
                    <a:pt x="4108877" y="0"/>
                  </a:lnTo>
                  <a:cubicBezTo>
                    <a:pt x="4119435" y="0"/>
                    <a:pt x="4129562" y="4194"/>
                    <a:pt x="4137027" y="11660"/>
                  </a:cubicBezTo>
                  <a:cubicBezTo>
                    <a:pt x="4144493" y="19126"/>
                    <a:pt x="4148687" y="29252"/>
                    <a:pt x="4148687" y="39810"/>
                  </a:cubicBezTo>
                  <a:lnTo>
                    <a:pt x="4148687" y="2234747"/>
                  </a:lnTo>
                  <a:cubicBezTo>
                    <a:pt x="4148687" y="2245305"/>
                    <a:pt x="4144493" y="2255431"/>
                    <a:pt x="4137027" y="2262897"/>
                  </a:cubicBezTo>
                  <a:cubicBezTo>
                    <a:pt x="4129562" y="2270363"/>
                    <a:pt x="4119435" y="2274557"/>
                    <a:pt x="4108877" y="2274557"/>
                  </a:cubicBezTo>
                  <a:lnTo>
                    <a:pt x="39810" y="2274557"/>
                  </a:lnTo>
                  <a:cubicBezTo>
                    <a:pt x="29252" y="2274557"/>
                    <a:pt x="19126" y="2270363"/>
                    <a:pt x="11660" y="2262897"/>
                  </a:cubicBezTo>
                  <a:cubicBezTo>
                    <a:pt x="4194" y="2255431"/>
                    <a:pt x="0" y="2245305"/>
                    <a:pt x="0" y="2234747"/>
                  </a:cubicBezTo>
                  <a:lnTo>
                    <a:pt x="0" y="39810"/>
                  </a:lnTo>
                  <a:cubicBezTo>
                    <a:pt x="0" y="29252"/>
                    <a:pt x="4194" y="19126"/>
                    <a:pt x="11660" y="11660"/>
                  </a:cubicBezTo>
                  <a:cubicBezTo>
                    <a:pt x="19126" y="4194"/>
                    <a:pt x="29252" y="0"/>
                    <a:pt x="39810" y="0"/>
                  </a:cubicBezTo>
                  <a:close/>
                </a:path>
              </a:pathLst>
            </a:custGeom>
            <a:solidFill>
              <a:srgbClr val="FAFAFA"/>
            </a:solidFill>
            <a:ln w="200025" cap="rnd">
              <a:solidFill>
                <a:srgbClr val="B8E28A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4148687" cy="2369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159076" y="2199562"/>
            <a:ext cx="721889" cy="916949"/>
          </a:xfrm>
          <a:custGeom>
            <a:avLst/>
            <a:gdLst/>
            <a:ahLst/>
            <a:cxnLst/>
            <a:rect l="l" t="t" r="r" b="b"/>
            <a:pathLst>
              <a:path w="721889" h="916949">
                <a:moveTo>
                  <a:pt x="0" y="0"/>
                </a:moveTo>
                <a:lnTo>
                  <a:pt x="721889" y="0"/>
                </a:lnTo>
                <a:lnTo>
                  <a:pt x="721889" y="916949"/>
                </a:lnTo>
                <a:lnTo>
                  <a:pt x="0" y="916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316" y="6898521"/>
            <a:ext cx="721889" cy="916949"/>
          </a:xfrm>
          <a:custGeom>
            <a:avLst/>
            <a:gdLst/>
            <a:ahLst/>
            <a:cxnLst/>
            <a:rect l="l" t="t" r="r" b="b"/>
            <a:pathLst>
              <a:path w="721889" h="916949">
                <a:moveTo>
                  <a:pt x="0" y="0"/>
                </a:moveTo>
                <a:lnTo>
                  <a:pt x="721889" y="0"/>
                </a:lnTo>
                <a:lnTo>
                  <a:pt x="721889" y="916949"/>
                </a:lnTo>
                <a:lnTo>
                  <a:pt x="0" y="916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447205" y="1028700"/>
            <a:ext cx="12005517" cy="8229600"/>
          </a:xfrm>
          <a:custGeom>
            <a:avLst/>
            <a:gdLst/>
            <a:ahLst/>
            <a:cxnLst/>
            <a:rect l="l" t="t" r="r" b="b"/>
            <a:pathLst>
              <a:path w="12005517" h="8229600">
                <a:moveTo>
                  <a:pt x="0" y="0"/>
                </a:moveTo>
                <a:lnTo>
                  <a:pt x="12005517" y="0"/>
                </a:lnTo>
                <a:lnTo>
                  <a:pt x="1200551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60" t="-3746" b="-3746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636" y="0"/>
            <a:ext cx="18322636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608994" y="281278"/>
            <a:ext cx="16807501" cy="177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72"/>
              </a:lnSpc>
            </a:pPr>
            <a:r>
              <a:rPr lang="en-US" sz="11051" spc="486">
                <a:solidFill>
                  <a:schemeClr val="bg1"/>
                </a:solidFill>
                <a:latin typeface="Ballpoint"/>
                <a:ea typeface="Ballpoint"/>
                <a:cs typeface="Ballpoint"/>
                <a:sym typeface="Ballpoint"/>
              </a:rPr>
              <a:t>BEST PERFORMING MODEL: XGBOOST</a:t>
            </a:r>
          </a:p>
        </p:txBody>
      </p:sp>
      <p:sp>
        <p:nvSpPr>
          <p:cNvPr id="3" name="Freeform 3"/>
          <p:cNvSpPr/>
          <p:nvPr/>
        </p:nvSpPr>
        <p:spPr>
          <a:xfrm rot="2446274">
            <a:off x="15764442" y="2549522"/>
            <a:ext cx="1390738" cy="835690"/>
          </a:xfrm>
          <a:custGeom>
            <a:avLst/>
            <a:gdLst/>
            <a:ahLst/>
            <a:cxnLst/>
            <a:rect l="l" t="t" r="r" b="b"/>
            <a:pathLst>
              <a:path w="1390738" h="835690">
                <a:moveTo>
                  <a:pt x="0" y="0"/>
                </a:moveTo>
                <a:lnTo>
                  <a:pt x="1390738" y="0"/>
                </a:lnTo>
                <a:lnTo>
                  <a:pt x="1390738" y="835690"/>
                </a:lnTo>
                <a:lnTo>
                  <a:pt x="0" y="835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08994" y="2277038"/>
            <a:ext cx="6630006" cy="887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419"/>
              </a:lnSpc>
              <a:spcBef>
                <a:spcPct val="0"/>
              </a:spcBef>
            </a:pPr>
            <a:r>
              <a:rPr lang="en-US" sz="5299" b="1" u="none" strike="noStrike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Performance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0472" y="3360306"/>
            <a:ext cx="8425660" cy="338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2835" lvl="1" indent="-506418" algn="just">
              <a:lnSpc>
                <a:spcPts val="6567"/>
              </a:lnSpc>
              <a:spcBef>
                <a:spcPct val="0"/>
              </a:spcBef>
              <a:buFont typeface="Arial"/>
              <a:buChar char="•"/>
            </a:pPr>
            <a:r>
              <a:rPr lang="en-US" sz="4691" u="none" strike="noStrike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Accuracy: 80%</a:t>
            </a:r>
          </a:p>
          <a:p>
            <a:pPr marL="1012835" lvl="1" indent="-506418" algn="l">
              <a:lnSpc>
                <a:spcPts val="6567"/>
              </a:lnSpc>
              <a:spcBef>
                <a:spcPct val="0"/>
              </a:spcBef>
              <a:buFont typeface="Arial"/>
              <a:buChar char="•"/>
            </a:pPr>
            <a:r>
              <a:rPr lang="en-US" sz="4691" u="none" strike="noStrike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Precision: 0.77</a:t>
            </a:r>
          </a:p>
          <a:p>
            <a:pPr marL="1012835" lvl="1" indent="-506418" algn="l">
              <a:lnSpc>
                <a:spcPts val="6567"/>
              </a:lnSpc>
              <a:spcBef>
                <a:spcPct val="0"/>
              </a:spcBef>
              <a:buFont typeface="Arial"/>
              <a:buChar char="•"/>
            </a:pPr>
            <a:r>
              <a:rPr lang="en-US" sz="4691" u="none" strike="noStrike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Recall: 0.82</a:t>
            </a:r>
          </a:p>
          <a:p>
            <a:pPr marL="1012835" lvl="1" indent="-506418" algn="l">
              <a:lnSpc>
                <a:spcPts val="6567"/>
              </a:lnSpc>
              <a:spcBef>
                <a:spcPct val="0"/>
              </a:spcBef>
              <a:buFont typeface="Arial"/>
              <a:buChar char="•"/>
            </a:pPr>
            <a:r>
              <a:rPr lang="en-US" sz="4691" u="none" strike="noStrike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F1-Score: 0.80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8994" y="6759174"/>
            <a:ext cx="17679006" cy="264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16"/>
              </a:lnSpc>
            </a:pPr>
            <a:r>
              <a:rPr lang="en-US" sz="4651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XGBoost achieved 80% testing accuracy with balanced precision and recall, making it the best model for predicting customer deposits.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DD52D2-82C4-6140-E391-93D84F4CC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" y="0"/>
            <a:ext cx="18279504" cy="10286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3D5D95-EF51-6E01-2088-13F8272729BF}"/>
              </a:ext>
            </a:extLst>
          </p:cNvPr>
          <p:cNvSpPr txBox="1"/>
          <p:nvPr/>
        </p:nvSpPr>
        <p:spPr>
          <a:xfrm>
            <a:off x="1682152" y="269575"/>
            <a:ext cx="14902131" cy="20697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50">
                <a:solidFill>
                  <a:srgbClr val="FFFFFF"/>
                </a:solidFill>
                <a:latin typeface="Ballpoint"/>
              </a:rPr>
              <a:t>BEST PERFORMING MODEL: XGBOOST</a:t>
            </a:r>
            <a:r>
              <a:rPr sz="11050">
                <a:latin typeface="Ballpoint"/>
                <a:ea typeface="Ballpoint"/>
                <a:cs typeface="Ballpoint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01F5BD-21FB-5949-8789-15F58702AF0C}"/>
              </a:ext>
            </a:extLst>
          </p:cNvPr>
          <p:cNvSpPr txBox="1"/>
          <p:nvPr/>
        </p:nvSpPr>
        <p:spPr>
          <a:xfrm>
            <a:off x="1682150" y="2145821"/>
            <a:ext cx="11882888" cy="55399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143000" lvl="1" indent="-685800" algn="just">
              <a:buFont typeface="Arial"/>
              <a:buChar char="•"/>
            </a:pPr>
            <a:r>
              <a:rPr lang="en-US" sz="4800" dirty="0">
                <a:solidFill>
                  <a:schemeClr val="bg1"/>
                </a:solidFill>
                <a:ea typeface="+mn-lt"/>
                <a:cs typeface="+mn-lt"/>
              </a:rPr>
              <a:t>Performed </a:t>
            </a:r>
            <a:r>
              <a:rPr lang="en-US" sz="4800" b="1" dirty="0">
                <a:solidFill>
                  <a:schemeClr val="bg1"/>
                </a:solidFill>
                <a:ea typeface="+mn-lt"/>
                <a:cs typeface="+mn-lt"/>
              </a:rPr>
              <a:t>Hyperparameter Tuning</a:t>
            </a:r>
            <a:r>
              <a:rPr lang="en-US" sz="4800" dirty="0">
                <a:solidFill>
                  <a:schemeClr val="bg1"/>
                </a:solidFill>
                <a:ea typeface="+mn-lt"/>
                <a:cs typeface="+mn-lt"/>
              </a:rPr>
              <a:t> to improve model performance and find the optimal parameter combination.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endParaRPr lang="en-US"/>
          </a:p>
          <a:p>
            <a:pPr marL="1044575" lvl="1" indent="-521970">
              <a:buFont typeface="Arial"/>
              <a:buChar char="•"/>
            </a:pPr>
            <a:r>
              <a:rPr lang="en-US" sz="4800" b="1" dirty="0">
                <a:solidFill>
                  <a:schemeClr val="bg1"/>
                </a:solidFill>
                <a:ea typeface="+mn-lt"/>
                <a:cs typeface="+mn-lt"/>
              </a:rPr>
              <a:t>Best performing model:</a:t>
            </a:r>
            <a:r>
              <a:rPr lang="en-US" sz="48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ea typeface="+mn-lt"/>
                <a:cs typeface="+mn-lt"/>
              </a:rPr>
              <a:t>XGBoost</a:t>
            </a:r>
            <a:r>
              <a:rPr lang="en-US" sz="4800" b="1" dirty="0">
                <a:solidFill>
                  <a:schemeClr val="bg1"/>
                </a:solidFill>
                <a:ea typeface="+mn-lt"/>
                <a:cs typeface="+mn-lt"/>
              </a:rPr>
              <a:t> (Extreme Gradient Boosting)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pPr marL="1044575" lvl="1" indent="-521970">
              <a:buFont typeface="Arial"/>
              <a:buChar char="•"/>
            </a:pPr>
            <a:r>
              <a:rPr lang="en-US" sz="4800" dirty="0">
                <a:solidFill>
                  <a:schemeClr val="bg1"/>
                </a:solidFill>
                <a:ea typeface="+mn-lt"/>
                <a:cs typeface="+mn-lt"/>
              </a:rPr>
              <a:t>Achieved </a:t>
            </a:r>
            <a:r>
              <a:rPr lang="en-US" sz="4800" b="1" dirty="0">
                <a:solidFill>
                  <a:schemeClr val="bg1"/>
                </a:solidFill>
                <a:ea typeface="+mn-lt"/>
                <a:cs typeface="+mn-lt"/>
              </a:rPr>
              <a:t>Best Score: 83% accuracy</a:t>
            </a:r>
            <a:r>
              <a:rPr lang="en-US" sz="4800" dirty="0">
                <a:solidFill>
                  <a:schemeClr val="bg1"/>
                </a:solidFill>
                <a:ea typeface="+mn-lt"/>
                <a:cs typeface="+mn-lt"/>
              </a:rPr>
              <a:t> after tuning.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7075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851788" y="56162"/>
            <a:ext cx="5698769" cy="1613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73"/>
              </a:lnSpc>
            </a:pPr>
            <a:r>
              <a:rPr lang="en-US" sz="10052" spc="442">
                <a:solidFill>
                  <a:schemeClr val="bg1"/>
                </a:solidFill>
                <a:latin typeface="Ballpoint"/>
                <a:ea typeface="Ballpoint"/>
                <a:cs typeface="Ballpoint"/>
                <a:sym typeface="Ballpoint"/>
              </a:rPr>
              <a:t>KEY INSIGHTS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247904"/>
            <a:ext cx="16060296" cy="7335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44599" lvl="1" indent="-522300" algn="l">
              <a:lnSpc>
                <a:spcPts val="7257"/>
              </a:lnSpc>
              <a:buFont typeface="Arial"/>
              <a:buChar char="•"/>
            </a:pPr>
            <a:r>
              <a:rPr lang="en-US" sz="4838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Customer account balance has a strong influence on deposit subscription.</a:t>
            </a:r>
          </a:p>
          <a:p>
            <a:pPr marL="1044599" lvl="1" indent="-522300" algn="l">
              <a:lnSpc>
                <a:spcPts val="7305"/>
              </a:lnSpc>
              <a:buFont typeface="Arial"/>
              <a:buChar char="•"/>
            </a:pPr>
            <a:r>
              <a:rPr lang="en-US" sz="4838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Previous campaign response impacts future deposit decisions.</a:t>
            </a:r>
          </a:p>
          <a:p>
            <a:pPr marL="1044599" lvl="1" indent="-522300" algn="l">
              <a:lnSpc>
                <a:spcPts val="7209"/>
              </a:lnSpc>
              <a:buFont typeface="Arial"/>
              <a:buChar char="•"/>
            </a:pPr>
            <a:r>
              <a:rPr lang="en-US" sz="4838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Certain job and marital categories show higher subscription rates.</a:t>
            </a:r>
          </a:p>
          <a:p>
            <a:pPr marL="1044599" lvl="1" indent="-522300" algn="l">
              <a:lnSpc>
                <a:spcPts val="6773"/>
              </a:lnSpc>
              <a:buFont typeface="Arial"/>
              <a:buChar char="•"/>
            </a:pPr>
            <a:r>
              <a:rPr lang="en-US" sz="4838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Deposit decisions depend on multiple customer factors combined.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2" y="0"/>
            <a:ext cx="18288000" cy="10287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652125" y="1470549"/>
            <a:ext cx="8132096" cy="129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68"/>
              </a:lnSpc>
              <a:spcBef>
                <a:spcPct val="0"/>
              </a:spcBef>
            </a:pPr>
            <a:r>
              <a:rPr lang="en-US" sz="8048" spc="354">
                <a:solidFill>
                  <a:schemeClr val="bg1"/>
                </a:solidFill>
                <a:latin typeface="Ballpoint"/>
                <a:ea typeface="Ballpoint"/>
                <a:cs typeface="Ballpoint"/>
                <a:sym typeface="Ballpoint"/>
              </a:rPr>
              <a:t>TOOLS &amp; TECHNOLOGIES</a:t>
            </a:r>
          </a:p>
        </p:txBody>
      </p:sp>
      <p:sp>
        <p:nvSpPr>
          <p:cNvPr id="5" name="Freeform 5"/>
          <p:cNvSpPr/>
          <p:nvPr/>
        </p:nvSpPr>
        <p:spPr>
          <a:xfrm rot="-10739957">
            <a:off x="4506888" y="2702856"/>
            <a:ext cx="5593807" cy="945862"/>
          </a:xfrm>
          <a:custGeom>
            <a:avLst/>
            <a:gdLst/>
            <a:ahLst/>
            <a:cxnLst/>
            <a:rect l="l" t="t" r="r" b="b"/>
            <a:pathLst>
              <a:path w="5593807" h="945862">
                <a:moveTo>
                  <a:pt x="0" y="0"/>
                </a:moveTo>
                <a:lnTo>
                  <a:pt x="5593807" y="0"/>
                </a:lnTo>
                <a:lnTo>
                  <a:pt x="5593807" y="945862"/>
                </a:lnTo>
                <a:lnTo>
                  <a:pt x="0" y="945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241684" y="2999656"/>
            <a:ext cx="984216" cy="971689"/>
          </a:xfrm>
          <a:custGeom>
            <a:avLst/>
            <a:gdLst/>
            <a:ahLst/>
            <a:cxnLst/>
            <a:rect l="l" t="t" r="r" b="b"/>
            <a:pathLst>
              <a:path w="984216" h="971689">
                <a:moveTo>
                  <a:pt x="0" y="0"/>
                </a:moveTo>
                <a:lnTo>
                  <a:pt x="984216" y="0"/>
                </a:lnTo>
                <a:lnTo>
                  <a:pt x="984216" y="971690"/>
                </a:lnTo>
                <a:lnTo>
                  <a:pt x="0" y="97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18161" y="3602242"/>
            <a:ext cx="13171262" cy="3327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24890" lvl="1" indent="-512445" algn="l">
              <a:lnSpc>
                <a:spcPts val="6647"/>
              </a:lnSpc>
              <a:buFont typeface="Arial"/>
              <a:buChar char="•"/>
            </a:pPr>
            <a:r>
              <a:rPr lang="en-US" sz="4700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Python: pandas, NumPy, scikit-learn, </a:t>
            </a:r>
            <a:r>
              <a:rPr lang="en-US" sz="4700" dirty="0" err="1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XGBoost</a:t>
            </a:r>
            <a:r>
              <a:rPr lang="en-US" sz="4700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, matplotlib, seaborn</a:t>
            </a:r>
            <a:endParaRPr lang="en-US" sz="4700" dirty="0">
              <a:solidFill>
                <a:schemeClr val="bg1"/>
              </a:solidFill>
              <a:latin typeface="Canva Sans"/>
              <a:ea typeface="Canva Sans"/>
              <a:cs typeface="Canva Sans"/>
            </a:endParaRPr>
          </a:p>
          <a:p>
            <a:pPr marL="1024890" lvl="1" indent="-512445" algn="l">
              <a:lnSpc>
                <a:spcPts val="6647"/>
              </a:lnSpc>
              <a:buFont typeface="Arial"/>
              <a:buChar char="•"/>
            </a:pPr>
            <a:r>
              <a:rPr lang="en-US" sz="4748" dirty="0" err="1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Jupyter</a:t>
            </a:r>
            <a:r>
              <a:rPr lang="en-US" sz="4748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 Notebook: Analysis and modeling</a:t>
            </a:r>
            <a:endParaRPr lang="en-US" sz="4748" dirty="0">
              <a:solidFill>
                <a:schemeClr val="bg1"/>
              </a:solidFill>
              <a:latin typeface="Canva Sans"/>
              <a:ea typeface="Canva Sans"/>
              <a:cs typeface="Canva Sans"/>
            </a:endParaRPr>
          </a:p>
          <a:p>
            <a:pPr marL="1024890" lvl="1" indent="-512445" algn="l">
              <a:lnSpc>
                <a:spcPts val="6647"/>
              </a:lnSpc>
              <a:buFont typeface="Arial"/>
              <a:buChar char="•"/>
            </a:pPr>
            <a:r>
              <a:rPr lang="en-US" sz="4700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PowerPoint / Canva: Presentation</a:t>
            </a:r>
            <a:endParaRPr lang="en-US" sz="4700" dirty="0">
              <a:solidFill>
                <a:schemeClr val="bg1"/>
              </a:solidFill>
              <a:latin typeface="Canva Sans"/>
              <a:ea typeface="Canva Sans"/>
              <a:cs typeface="Canv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F6E88C-2F0D-C4FF-C52B-BAF662F59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2" y="0"/>
            <a:ext cx="18288000" cy="1028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A8C75B-5B4D-10AD-B083-09348B499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0" y="-20128"/>
            <a:ext cx="18288000" cy="1028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6513DD-E0B3-ECF2-C926-6E1D26E83FA0}"/>
              </a:ext>
            </a:extLst>
          </p:cNvPr>
          <p:cNvSpPr txBox="1"/>
          <p:nvPr/>
        </p:nvSpPr>
        <p:spPr>
          <a:xfrm>
            <a:off x="2070340" y="161745"/>
            <a:ext cx="14729603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ea typeface="+mn-lt"/>
                <a:cs typeface="+mn-lt"/>
              </a:rPr>
              <a:t>Model Deployment using </a:t>
            </a:r>
            <a:r>
              <a:rPr lang="en-US" sz="8000" err="1">
                <a:solidFill>
                  <a:schemeClr val="bg1"/>
                </a:solidFill>
                <a:ea typeface="+mn-lt"/>
                <a:cs typeface="+mn-lt"/>
              </a:rPr>
              <a:t>Streamlit</a:t>
            </a:r>
            <a:endParaRPr lang="en-US" err="1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73B3E8-F309-AD6D-7238-67B17F219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" y="1772639"/>
            <a:ext cx="18273261" cy="848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102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7985F1-A3CE-E7C4-FF22-B2450AD18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0" y="-20128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F8F740-CF03-3579-FE7C-FF4DACAAB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" y="8717"/>
            <a:ext cx="18273261" cy="1026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09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159A70-3AAE-B6FE-DC9F-4355A4751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0" y="-20128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278F05-A19B-4242-3703-7617B2F55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2" y="248460"/>
            <a:ext cx="18273260" cy="983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445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 flipV="1">
            <a:off x="7075771" y="1102351"/>
            <a:ext cx="2095076" cy="1209593"/>
          </a:xfrm>
          <a:prstGeom prst="line">
            <a:avLst/>
          </a:prstGeom>
          <a:ln w="38100" cap="flat">
            <a:solidFill>
              <a:srgbClr val="34757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9117153" y="1159894"/>
            <a:ext cx="2095076" cy="1209593"/>
          </a:xfrm>
          <a:prstGeom prst="line">
            <a:avLst/>
          </a:prstGeom>
          <a:ln w="38100" cap="flat">
            <a:solidFill>
              <a:srgbClr val="34757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2498789" y="2055111"/>
            <a:ext cx="13691597" cy="6176777"/>
          </a:xfrm>
          <a:custGeom>
            <a:avLst/>
            <a:gdLst/>
            <a:ahLst/>
            <a:cxnLst/>
            <a:rect l="l" t="t" r="r" b="b"/>
            <a:pathLst>
              <a:path w="13691597" h="6176777">
                <a:moveTo>
                  <a:pt x="0" y="0"/>
                </a:moveTo>
                <a:lnTo>
                  <a:pt x="13691597" y="0"/>
                </a:lnTo>
                <a:lnTo>
                  <a:pt x="13691597" y="6176778"/>
                </a:lnTo>
                <a:lnTo>
                  <a:pt x="0" y="6176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542142" y="5949176"/>
            <a:ext cx="5514807" cy="954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4"/>
              </a:lnSpc>
              <a:spcBef>
                <a:spcPct val="0"/>
              </a:spcBef>
            </a:pPr>
            <a:r>
              <a:rPr lang="en-US" sz="4988" dirty="0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akshayvp5001@gmail.com</a:t>
            </a:r>
          </a:p>
        </p:txBody>
      </p:sp>
      <p:sp>
        <p:nvSpPr>
          <p:cNvPr id="8" name="Freeform 8"/>
          <p:cNvSpPr/>
          <p:nvPr/>
        </p:nvSpPr>
        <p:spPr>
          <a:xfrm>
            <a:off x="1707464" y="1257696"/>
            <a:ext cx="3882407" cy="3197692"/>
          </a:xfrm>
          <a:custGeom>
            <a:avLst/>
            <a:gdLst/>
            <a:ahLst/>
            <a:cxnLst/>
            <a:rect l="l" t="t" r="r" b="b"/>
            <a:pathLst>
              <a:path w="3882407" h="3197692">
                <a:moveTo>
                  <a:pt x="0" y="0"/>
                </a:moveTo>
                <a:lnTo>
                  <a:pt x="3882407" y="0"/>
                </a:lnTo>
                <a:lnTo>
                  <a:pt x="3882407" y="3197692"/>
                </a:lnTo>
                <a:lnTo>
                  <a:pt x="0" y="31976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8878632" y="1028700"/>
            <a:ext cx="457992" cy="45799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E28A"/>
            </a:solidFill>
            <a:ln w="9525" cap="sq">
              <a:solidFill>
                <a:srgbClr val="347571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934301" y="2735548"/>
            <a:ext cx="10820573" cy="3790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6"/>
              </a:lnSpc>
              <a:spcBef>
                <a:spcPct val="0"/>
              </a:spcBef>
            </a:pPr>
            <a:r>
              <a:rPr lang="en-US" sz="19876" spc="874" dirty="0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THANK YOU</a:t>
            </a:r>
          </a:p>
        </p:txBody>
      </p:sp>
      <p:sp>
        <p:nvSpPr>
          <p:cNvPr id="13" name="Freeform 13"/>
          <p:cNvSpPr/>
          <p:nvPr/>
        </p:nvSpPr>
        <p:spPr>
          <a:xfrm>
            <a:off x="12696005" y="928249"/>
            <a:ext cx="721889" cy="916949"/>
          </a:xfrm>
          <a:custGeom>
            <a:avLst/>
            <a:gdLst/>
            <a:ahLst/>
            <a:cxnLst/>
            <a:rect l="l" t="t" r="r" b="b"/>
            <a:pathLst>
              <a:path w="721889" h="916949">
                <a:moveTo>
                  <a:pt x="0" y="0"/>
                </a:moveTo>
                <a:lnTo>
                  <a:pt x="721889" y="0"/>
                </a:lnTo>
                <a:lnTo>
                  <a:pt x="721889" y="916949"/>
                </a:lnTo>
                <a:lnTo>
                  <a:pt x="0" y="916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67756" y="5286516"/>
            <a:ext cx="721889" cy="916949"/>
          </a:xfrm>
          <a:custGeom>
            <a:avLst/>
            <a:gdLst/>
            <a:ahLst/>
            <a:cxnLst/>
            <a:rect l="l" t="t" r="r" b="b"/>
            <a:pathLst>
              <a:path w="721889" h="916949">
                <a:moveTo>
                  <a:pt x="0" y="0"/>
                </a:moveTo>
                <a:lnTo>
                  <a:pt x="721888" y="0"/>
                </a:lnTo>
                <a:lnTo>
                  <a:pt x="721888" y="916949"/>
                </a:lnTo>
                <a:lnTo>
                  <a:pt x="0" y="916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482985" y="5986154"/>
            <a:ext cx="2805635" cy="89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2"/>
              </a:lnSpc>
              <a:spcBef>
                <a:spcPct val="0"/>
              </a:spcBef>
            </a:pPr>
            <a:r>
              <a:rPr lang="en-US" sz="4751" dirty="0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9048321618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407</Words>
  <Application>Microsoft Office PowerPoint</Application>
  <PresentationFormat>Custom</PresentationFormat>
  <Paragraphs>61</Paragraphs>
  <Slides>17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Economy an</dc:title>
  <cp:lastModifiedBy>hp</cp:lastModifiedBy>
  <cp:revision>91</cp:revision>
  <dcterms:created xsi:type="dcterms:W3CDTF">2006-08-16T00:00:00Z</dcterms:created>
  <dcterms:modified xsi:type="dcterms:W3CDTF">2026-04-01T12:21:46Z</dcterms:modified>
  <dc:identifier>DAHBlEefwBw</dc:identifier>
</cp:coreProperties>
</file>